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7D6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amanati_pattern_fade-white-on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40480"/>
            <a:ext cx="12191695" cy="2666933"/>
          </a:xfrm>
          <a:prstGeom prst="rect">
            <a:avLst/>
          </a:prstGeom>
        </p:spPr>
      </p:pic>
      <p:pic>
        <p:nvPicPr>
          <p:cNvPr id="3" name="Picture 2" descr="damanati_bilingual_reversed-on-green_512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2697123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737360"/>
            <a:ext cx="1106424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5400" b="1" lang="ar-SA">
                <a:solidFill>
                  <a:srgbClr val="FFFFFF"/>
                </a:solidFill>
                <a:latin typeface="Tajawal"/>
                <a:cs typeface="Tajawal"/>
                <a:ea typeface="Tajawal"/>
              </a:rPr>
              <a:t>هوية ضماناتي 2.0</a:t>
            </a:r>
          </a:p>
          <a:p>
            <a:pPr algn="r" rtl="0">
              <a:lnSpc>
                <a:spcPct val="115000"/>
              </a:lnSpc>
            </a:pPr>
            <a:r>
              <a:rPr sz="1800" b="0" lang="en-US">
                <a:solidFill>
                  <a:srgbClr val="FFFFFF"/>
                </a:solidFill>
                <a:latin typeface="Tajawal"/>
                <a:cs typeface="Tajawal"/>
                <a:ea typeface="Tajawal"/>
              </a:rPr>
              <a:t>Damanati Brand Identity · Executive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المحتوى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16152"/>
            <a:ext cx="110642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0" lang="en-US">
                <a:solidFill>
                  <a:srgbClr val="6B675F"/>
                </a:solidFill>
                <a:latin typeface="Tajawal"/>
                <a:cs typeface="Tajawal"/>
                <a:ea typeface="Tajawal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173736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2200" b="1" lang="en-US">
                <a:solidFill>
                  <a:srgbClr val="2F7D6B"/>
                </a:solidFill>
                <a:latin typeface="Tajawal"/>
                <a:cs typeface="Tajawal"/>
                <a:ea typeface="Tajaw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737360"/>
            <a:ext cx="7132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000" b="0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التدقيق: ما حافظنا عليه وما صححناه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22860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2200" b="1" lang="en-US">
                <a:solidFill>
                  <a:srgbClr val="2F7D6B"/>
                </a:solidFill>
                <a:latin typeface="Tajawal"/>
                <a:cs typeface="Tajawal"/>
                <a:ea typeface="Tajawal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286000"/>
            <a:ext cx="7132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000" b="0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جوهر العلامة والقيم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2834639"/>
            <a:ext cx="12801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2200" b="1" lang="en-US">
                <a:solidFill>
                  <a:srgbClr val="2F7D6B"/>
                </a:solidFill>
                <a:latin typeface="Tajawal"/>
                <a:cs typeface="Tajawal"/>
                <a:ea typeface="Tajaw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834639"/>
            <a:ext cx="7132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000" b="0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نظام الشعار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3383279"/>
            <a:ext cx="12801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2200" b="1" lang="en-US">
                <a:solidFill>
                  <a:srgbClr val="2F7D6B"/>
                </a:solidFill>
                <a:latin typeface="Tajawal"/>
                <a:cs typeface="Tajawal"/>
                <a:ea typeface="Tajawal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383279"/>
            <a:ext cx="7132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000" b="0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الألوان والخطوط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393192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2200" b="1" lang="en-US">
                <a:solidFill>
                  <a:srgbClr val="2F7D6B"/>
                </a:solidFill>
                <a:latin typeface="Tajawal"/>
                <a:cs typeface="Tajawal"/>
                <a:ea typeface="Tajawal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931920"/>
            <a:ext cx="7132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000" b="0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اللغة البصرية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448056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2200" b="1" lang="en-US">
                <a:solidFill>
                  <a:srgbClr val="2F7D6B"/>
                </a:solidFill>
                <a:latin typeface="Tajawal"/>
                <a:cs typeface="Tajawal"/>
                <a:ea typeface="Tajawal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480560"/>
            <a:ext cx="7132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000" b="0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التطبيقات الرقمية والتسويقية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50292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2200" b="1" lang="en-US">
                <a:solidFill>
                  <a:srgbClr val="2F7D6B"/>
                </a:solidFill>
                <a:latin typeface="Tajawal"/>
                <a:cs typeface="Tajawal"/>
                <a:ea typeface="Tajawal"/>
              </a:rP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029200"/>
            <a:ext cx="7132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000" b="0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الحركة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557784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2200" b="1" lang="en-US">
                <a:solidFill>
                  <a:srgbClr val="2F7D6B"/>
                </a:solidFill>
                <a:latin typeface="Tajawal"/>
                <a:cs typeface="Tajawal"/>
                <a:ea typeface="Tajawal"/>
              </a:rP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577840"/>
            <a:ext cx="7132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000" b="0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ما نحتاج اعتماده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0" lang="ar-SA">
                <a:solidFill>
                  <a:srgbClr val="6B675F"/>
                </a:solidFill>
                <a:latin typeface="Tajawal"/>
                <a:cs typeface="Tajawal"/>
                <a:ea typeface="Tajawal"/>
              </a:rPr>
              <a:t>ضماناتي · عرض الهوية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000" b="1" lang="en-US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التدقيق: حافظنا على الهوية، وصححنا التفاصيل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16152"/>
            <a:ext cx="110642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0" lang="en-US">
                <a:solidFill>
                  <a:srgbClr val="6B675F"/>
                </a:solidFill>
                <a:latin typeface="Tajawal"/>
                <a:cs typeface="Tajawal"/>
                <a:ea typeface="Tajawal"/>
              </a:rPr>
              <a:t>Audit: identity preserved, details corrected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737360"/>
            <a:ext cx="5303520" cy="4206240"/>
          </a:xfrm>
          <a:prstGeom prst="roundRect">
            <a:avLst>
              <a:gd name="adj" fmla="val 6000"/>
            </a:avLst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6000"/>
            </a:avLst>
          </a:prstGeom>
          <a:solidFill>
            <a:srgbClr val="2F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920240"/>
            <a:ext cx="4754880" cy="3840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sz="2000" b="1" lang="ar-SA">
                <a:solidFill>
                  <a:srgbClr val="2A5F53"/>
                </a:solidFill>
                <a:latin typeface="Tajawal"/>
                <a:cs typeface="Tajawal"/>
                <a:ea typeface="Tajawal"/>
              </a:rPr>
              <a:t>ما بقي كما هو</a:t>
            </a:r>
          </a:p>
          <a:p>
            <a:pPr algn="r" rtl="1">
              <a:lnSpc>
                <a:spcPct val="150000"/>
              </a:lnSpc>
            </a:pPr>
            <a:r>
              <a:rPr sz="1500" b="0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الشعار (ض + D) مستخرج متجهيًا بدون إعادة رسم</a:t>
            </a:r>
          </a:p>
          <a:p>
            <a:pPr algn="r" rtl="1">
              <a:lnSpc>
                <a:spcPct val="150000"/>
              </a:lnSpc>
            </a:pPr>
            <a:r>
              <a:rPr sz="1500" b="0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الأخضر #2F7D6B ونسبة 60/30/5/5</a:t>
            </a:r>
          </a:p>
          <a:p>
            <a:pPr algn="r" rtl="1">
              <a:lnSpc>
                <a:spcPct val="150000"/>
              </a:lnSpc>
            </a:pPr>
            <a:r>
              <a:rPr sz="1500" b="0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خط تجوال والأوزان السبعة</a:t>
            </a:r>
          </a:p>
          <a:p>
            <a:pPr algn="r" rtl="1">
              <a:lnSpc>
                <a:spcPct val="150000"/>
              </a:lnSpc>
            </a:pPr>
            <a:r>
              <a:rPr sz="1500" b="0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النمط، مساحة الحماية، الحد الأدنى 10 ملم / 48px</a:t>
            </a:r>
          </a:p>
          <a:p>
            <a:pPr algn="r" rtl="1">
              <a:lnSpc>
                <a:spcPct val="150000"/>
              </a:lnSpc>
            </a:pPr>
            <a:r>
              <a:rPr sz="1500" b="0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الرؤية والرسالة والقيم السبع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4846320" cy="3840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sz="2000" b="1" lang="ar-SA">
                <a:solidFill>
                  <a:srgbClr val="FFFFFF"/>
                </a:solidFill>
                <a:latin typeface="Tajawal"/>
                <a:cs typeface="Tajawal"/>
                <a:ea typeface="Tajawal"/>
              </a:rPr>
              <a:t>ما صححناه</a:t>
            </a:r>
          </a:p>
          <a:p>
            <a:pPr algn="r" rtl="1">
              <a:lnSpc>
                <a:spcPct val="150000"/>
              </a:lnSpc>
            </a:pPr>
            <a:r>
              <a:rPr sz="1500" b="0" lang="ar-SA">
                <a:solidFill>
                  <a:srgbClr val="FFFFFF"/>
                </a:solidFill>
                <a:latin typeface="Tajawal"/>
                <a:cs typeface="Tajawal"/>
                <a:ea typeface="Tajawal"/>
              </a:rPr>
              <a:t>ثلاث قيم مختلفة للأخضر → قيمة واحدة</a:t>
            </a:r>
          </a:p>
          <a:p>
            <a:pPr algn="r" rtl="1">
              <a:lnSpc>
                <a:spcPct val="150000"/>
              </a:lnSpc>
            </a:pPr>
            <a:r>
              <a:rPr sz="1500" b="0" lang="ar-SA">
                <a:solidFill>
                  <a:srgbClr val="FFFFFF"/>
                </a:solidFill>
                <a:latin typeface="Tajawal"/>
                <a:cs typeface="Tajawal"/>
                <a:ea typeface="Tajawal"/>
              </a:rPr>
              <a:t>guarantees → warranties</a:t>
            </a:r>
          </a:p>
          <a:p>
            <a:pPr algn="r" rtl="1">
              <a:lnSpc>
                <a:spcPct val="150000"/>
              </a:lnSpc>
            </a:pPr>
            <a:r>
              <a:rPr sz="1500" b="0" lang="ar-SA">
                <a:solidFill>
                  <a:srgbClr val="FFFFFF"/>
                </a:solidFill>
                <a:latin typeface="Tajawal"/>
                <a:cs typeface="Tajawal"/>
                <a:ea typeface="Tajawal"/>
              </a:rPr>
              <a:t>ثلاثة خطوط لاتينية → تجوال فقط</a:t>
            </a:r>
          </a:p>
          <a:p>
            <a:pPr algn="r" rtl="1">
              <a:lnSpc>
                <a:spcPct val="150000"/>
              </a:lnSpc>
            </a:pPr>
            <a:r>
              <a:rPr sz="1500" b="0" lang="ar-SA">
                <a:solidFill>
                  <a:srgbClr val="FFFFFF"/>
                </a:solidFill>
                <a:latin typeface="Tajawal"/>
                <a:cs typeface="Tajawal"/>
                <a:ea typeface="Tajawal"/>
              </a:rPr>
              <a:t>اسم «D-Data» في نموذج الجوال → ضماناتي</a:t>
            </a:r>
          </a:p>
          <a:p>
            <a:pPr algn="r" rtl="1">
              <a:lnSpc>
                <a:spcPct val="150000"/>
              </a:lnSpc>
            </a:pPr>
            <a:r>
              <a:rPr sz="1500" b="0" lang="ar-SA">
                <a:solidFill>
                  <a:srgbClr val="FFFFFF"/>
                </a:solidFill>
                <a:latin typeface="Tajawal"/>
                <a:cs typeface="Tajawal"/>
                <a:ea typeface="Tajawal"/>
              </a:rPr>
              <a:t>تعريف مساحة الحماية: x = ⅙ عرض المربع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0" lang="ar-SA">
                <a:solidFill>
                  <a:srgbClr val="6B675F"/>
                </a:solidFill>
                <a:latin typeface="Tajawal"/>
                <a:cs typeface="Tajawal"/>
                <a:ea typeface="Tajawal"/>
              </a:rPr>
              <a:t>ضماناتي · عرض الهوية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000" b="1" lang="en-US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جوهر العلامة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16152"/>
            <a:ext cx="110642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0" lang="en-US">
                <a:solidFill>
                  <a:srgbClr val="6B675F"/>
                </a:solidFill>
                <a:latin typeface="Tajawal"/>
                <a:cs typeface="Tajawal"/>
                <a:ea typeface="Tajawal"/>
              </a:rPr>
              <a:t>Brand essence (proposed)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01000" y="1828800"/>
            <a:ext cx="3611880" cy="3566160"/>
          </a:xfrm>
          <a:prstGeom prst="roundRect">
            <a:avLst>
              <a:gd name="adj" fmla="val 6000"/>
            </a:avLst>
          </a:prstGeom>
          <a:solidFill>
            <a:srgbClr val="2F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75320" y="2057400"/>
            <a:ext cx="3063240" cy="3108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30000"/>
              </a:lnSpc>
              <a:spcAft>
                <a:spcPts val="1000"/>
              </a:spcAft>
            </a:pPr>
            <a:r>
              <a:rPr sz="1400" b="0" lang="ar-SA">
                <a:solidFill>
                  <a:srgbClr val="FFFFFF"/>
                </a:solidFill>
                <a:latin typeface="Tajawal"/>
                <a:cs typeface="Tajawal"/>
                <a:ea typeface="Tajawal"/>
              </a:rPr>
              <a:t>الغاية</a:t>
            </a:r>
          </a:p>
          <a:p>
            <a:pPr algn="r" rtl="1">
              <a:lnSpc>
                <a:spcPct val="130000"/>
              </a:lnSpc>
              <a:spcAft>
                <a:spcPts val="1400"/>
              </a:spcAft>
            </a:pPr>
            <a:r>
              <a:rPr sz="2600" b="1" lang="ar-SA">
                <a:solidFill>
                  <a:srgbClr val="FFFFFF"/>
                </a:solidFill>
                <a:latin typeface="Tajawal"/>
                <a:cs typeface="Tajawal"/>
                <a:ea typeface="Tajawal"/>
              </a:rPr>
              <a:t>ما يضيع حق أحد لأن ورقة ضاعت.</a:t>
            </a:r>
          </a:p>
          <a:p>
            <a:pPr algn="r" rtl="0">
              <a:lnSpc>
                <a:spcPct val="130000"/>
              </a:lnSpc>
            </a:pPr>
            <a:r>
              <a:rPr sz="1300" b="0" lang="en-US">
                <a:solidFill>
                  <a:srgbClr val="FFFFFF"/>
                </a:solidFill>
                <a:latin typeface="Tajawal"/>
                <a:cs typeface="Tajawal"/>
                <a:ea typeface="Tajawal"/>
              </a:rPr>
              <a:t>Purpose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828800"/>
            <a:ext cx="3611880" cy="3566160"/>
          </a:xfrm>
          <a:prstGeom prst="roundRect">
            <a:avLst>
              <a:gd name="adj" fmla="val 6000"/>
            </a:avLst>
          </a:prstGeom>
          <a:solidFill>
            <a:srgbClr val="2A5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2057400"/>
            <a:ext cx="3063240" cy="3108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30000"/>
              </a:lnSpc>
              <a:spcAft>
                <a:spcPts val="1000"/>
              </a:spcAft>
            </a:pPr>
            <a:r>
              <a:rPr sz="1400" b="0" lang="ar-SA">
                <a:solidFill>
                  <a:srgbClr val="FFFFFF"/>
                </a:solidFill>
                <a:latin typeface="Tajawal"/>
                <a:cs typeface="Tajawal"/>
                <a:ea typeface="Tajawal"/>
              </a:rPr>
              <a:t>الوعد</a:t>
            </a:r>
          </a:p>
          <a:p>
            <a:pPr algn="r" rtl="1">
              <a:lnSpc>
                <a:spcPct val="130000"/>
              </a:lnSpc>
              <a:spcAft>
                <a:spcPts val="1400"/>
              </a:spcAft>
            </a:pPr>
            <a:r>
              <a:rPr sz="2600" b="1" lang="ar-SA">
                <a:solidFill>
                  <a:srgbClr val="FFFFFF"/>
                </a:solidFill>
                <a:latin typeface="Tajawal"/>
                <a:cs typeface="Tajawal"/>
                <a:ea typeface="Tajawal"/>
              </a:rPr>
              <a:t>نحفظ ضمانك، ونذكّرك بحقك.</a:t>
            </a:r>
          </a:p>
          <a:p>
            <a:pPr algn="r" rtl="0">
              <a:lnSpc>
                <a:spcPct val="130000"/>
              </a:lnSpc>
            </a:pPr>
            <a:r>
              <a:rPr sz="1300" b="0" lang="en-US">
                <a:solidFill>
                  <a:srgbClr val="FFFFFF"/>
                </a:solidFill>
                <a:latin typeface="Tajawal"/>
                <a:cs typeface="Tajawal"/>
                <a:ea typeface="Tajawal"/>
              </a:rPr>
              <a:t>Promise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3611880" cy="3566160"/>
          </a:xfrm>
          <a:prstGeom prst="roundRect">
            <a:avLst>
              <a:gd name="adj" fmla="val 6000"/>
            </a:avLst>
          </a:prstGeom>
          <a:solidFill>
            <a:srgbClr val="214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3063240" cy="3108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30000"/>
              </a:lnSpc>
              <a:spcAft>
                <a:spcPts val="1000"/>
              </a:spcAft>
            </a:pPr>
            <a:r>
              <a:rPr sz="1400" b="0" lang="ar-SA">
                <a:solidFill>
                  <a:srgbClr val="FFFFFF"/>
                </a:solidFill>
                <a:latin typeface="Tajawal"/>
                <a:cs typeface="Tajawal"/>
                <a:ea typeface="Tajawal"/>
              </a:rPr>
              <a:t>النموذج</a:t>
            </a:r>
          </a:p>
          <a:p>
            <a:pPr algn="r" rtl="1">
              <a:lnSpc>
                <a:spcPct val="130000"/>
              </a:lnSpc>
              <a:spcAft>
                <a:spcPts val="1400"/>
              </a:spcAft>
            </a:pPr>
            <a:r>
              <a:rPr sz="2600" b="1" lang="ar-SA">
                <a:solidFill>
                  <a:srgbClr val="FFFFFF"/>
                </a:solidFill>
                <a:latin typeface="Tajawal"/>
                <a:cs typeface="Tajawal"/>
                <a:ea typeface="Tajawal"/>
              </a:rPr>
              <a:t>الراعي، بلمسة الحكيم</a:t>
            </a:r>
          </a:p>
          <a:p>
            <a:pPr algn="r" rtl="0">
              <a:lnSpc>
                <a:spcPct val="130000"/>
              </a:lnSpc>
            </a:pPr>
            <a:r>
              <a:rPr sz="1300" b="0" lang="en-US">
                <a:solidFill>
                  <a:srgbClr val="FFFFFF"/>
                </a:solidFill>
                <a:latin typeface="Tajawal"/>
                <a:cs typeface="Tajawal"/>
                <a:ea typeface="Tajawal"/>
              </a:rPr>
              <a:t>Caregiver + 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0" lang="ar-SA">
                <a:solidFill>
                  <a:srgbClr val="6B675F"/>
                </a:solidFill>
                <a:latin typeface="Tajawal"/>
                <a:cs typeface="Tajawal"/>
                <a:ea typeface="Tajawal"/>
              </a:rPr>
              <a:t>ضماناتي · عرض الهوية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000" b="1" lang="en-US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القيم السبع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16152"/>
            <a:ext cx="110642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0" lang="en-US">
                <a:solidFill>
                  <a:srgbClr val="6B675F"/>
                </a:solidFill>
                <a:latin typeface="Tajawal"/>
                <a:cs typeface="Tajawal"/>
                <a:ea typeface="Tajawal"/>
              </a:rPr>
              <a:t>Seven values (approved names)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006840" y="182880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98280" y="2331720"/>
            <a:ext cx="24231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600" b="1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الثقة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0487" y="182880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81927" y="2331720"/>
            <a:ext cx="24231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600" b="1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الأمان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74135" y="182880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65575" y="2331720"/>
            <a:ext cx="24231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600" b="1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الابتكار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3" y="182880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3" y="2331720"/>
            <a:ext cx="24231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600" b="1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البساطة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384048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4343400"/>
            <a:ext cx="24231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600" b="1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الاعتمادية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7" y="384048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7" y="4343400"/>
            <a:ext cx="24231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600" b="1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الخصوصية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74135" y="384048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65575" y="4343400"/>
            <a:ext cx="24231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600" b="1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التنظيم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7783" y="384048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2F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3" y="3977639"/>
            <a:ext cx="2331720" cy="1463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lang="ar-SA">
                <a:solidFill>
                  <a:srgbClr val="FFFFFF"/>
                </a:solidFill>
                <a:latin typeface="Tajawal"/>
                <a:cs typeface="Tajawal"/>
                <a:ea typeface="Tajawal"/>
              </a:rPr>
              <a:t>سبع قيم، وفكرة وحدة: حقك محفوظ.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0" lang="ar-SA">
                <a:solidFill>
                  <a:srgbClr val="6B675F"/>
                </a:solidFill>
                <a:latin typeface="Tajawal"/>
                <a:cs typeface="Tajawal"/>
                <a:ea typeface="Tajawal"/>
              </a:rPr>
              <a:t>ضماناتي · عرض الهوية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000" b="1" lang="en-US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نظام الشعار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16152"/>
            <a:ext cx="110642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0" lang="en-US">
                <a:solidFill>
                  <a:srgbClr val="6B675F"/>
                </a:solidFill>
                <a:latin typeface="Tajawal"/>
                <a:cs typeface="Tajawal"/>
                <a:ea typeface="Tajawal"/>
              </a:rPr>
              <a:t>Logo system: 5 lockups × 5 colourways, extracted as vectors</a:t>
            </a:r>
          </a:p>
        </p:txBody>
      </p:sp>
      <p:pic>
        <p:nvPicPr>
          <p:cNvPr id="4" name="Picture 3" descr="damanati_bilingual_primary_2048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828800"/>
            <a:ext cx="4270020" cy="868680"/>
          </a:xfrm>
          <a:prstGeom prst="rect">
            <a:avLst/>
          </a:prstGeom>
        </p:spPr>
      </p:pic>
      <p:pic>
        <p:nvPicPr>
          <p:cNvPr id="5" name="Picture 4" descr="damanati_symbol_primary_512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3200400"/>
            <a:ext cx="1554480" cy="1554480"/>
          </a:xfrm>
          <a:prstGeom prst="rect">
            <a:avLst/>
          </a:prstGeom>
        </p:spPr>
      </p:pic>
      <p:pic>
        <p:nvPicPr>
          <p:cNvPr id="6" name="Picture 5" descr="damanati_arabic_primary_512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3337560"/>
            <a:ext cx="3336846" cy="1097280"/>
          </a:xfrm>
          <a:prstGeom prst="rect">
            <a:avLst/>
          </a:prstGeom>
        </p:spPr>
      </p:pic>
      <p:pic>
        <p:nvPicPr>
          <p:cNvPr id="7" name="Picture 6" descr="damanati_english_primary_512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37560"/>
            <a:ext cx="3167539" cy="1097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12000"/>
            </a:avLst>
          </a:prstGeom>
          <a:solidFill>
            <a:srgbClr val="2F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manati_bilingual_reversed-on-green_512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0" y="5330952"/>
            <a:ext cx="2697123" cy="548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0" lang="ar-SA">
                <a:solidFill>
                  <a:srgbClr val="6B675F"/>
                </a:solidFill>
                <a:latin typeface="Tajawal"/>
                <a:cs typeface="Tajawal"/>
                <a:ea typeface="Tajawal"/>
              </a:rPr>
              <a:t>ضماناتي · عرض الهوية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000" b="1" lang="en-US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الألوان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16152"/>
            <a:ext cx="110642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0" lang="en-US">
                <a:solidFill>
                  <a:srgbClr val="6B675F"/>
                </a:solidFill>
                <a:latin typeface="Tajawal"/>
                <a:cs typeface="Tajawal"/>
                <a:ea typeface="Tajawal"/>
              </a:rPr>
              <a:t>Colour: one green leads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577840" y="1737360"/>
            <a:ext cx="5961888" cy="3291840"/>
          </a:xfrm>
          <a:prstGeom prst="roundRect">
            <a:avLst>
              <a:gd name="adj" fmla="val 4000"/>
            </a:avLst>
          </a:prstGeom>
          <a:solidFill>
            <a:srgbClr val="2F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79" y="4206240"/>
            <a:ext cx="57607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300" b="1" lang="en-US">
                <a:solidFill>
                  <a:srgbClr val="FFFFFF"/>
                </a:solidFill>
                <a:latin typeface="Tajawal"/>
                <a:cs typeface="Tajawal"/>
                <a:ea typeface="Tajawal"/>
              </a:rPr>
              <a:t>#2F7D6B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737360"/>
            <a:ext cx="2944368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4206240"/>
            <a:ext cx="27432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300" b="1" lang="en-US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#FFFFFF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54479" y="1737360"/>
            <a:ext cx="932688" cy="3291840"/>
          </a:xfrm>
          <a:prstGeom prst="roundRect">
            <a:avLst>
              <a:gd name="adj" fmla="val 4000"/>
            </a:avLst>
          </a:prstGeom>
          <a:solidFill>
            <a:srgbClr val="6B6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19" y="4206240"/>
            <a:ext cx="7315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000" b="1" lang="en-US">
                <a:solidFill>
                  <a:srgbClr val="FFFFFF"/>
                </a:solidFill>
                <a:latin typeface="Tajawal"/>
                <a:cs typeface="Tajawal"/>
                <a:ea typeface="Tajawal"/>
              </a:rPr>
              <a:t>#6B675F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39" y="1737360"/>
            <a:ext cx="932688" cy="3291840"/>
          </a:xfrm>
          <a:prstGeom prst="roundRect">
            <a:avLst>
              <a:gd name="adj" fmla="val 4000"/>
            </a:avLst>
          </a:prstGeom>
          <a:solidFill>
            <a:srgbClr val="231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79" y="4206240"/>
            <a:ext cx="7315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000" b="1" lang="en-US">
                <a:solidFill>
                  <a:srgbClr val="FFFFFF"/>
                </a:solidFill>
                <a:latin typeface="Tajawal"/>
                <a:cs typeface="Tajawal"/>
                <a:ea typeface="Tajawal"/>
              </a:rPr>
              <a:t>#231F20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57800"/>
            <a:ext cx="1106424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00" b="0" lang="ar-SA">
                <a:solidFill>
                  <a:srgbClr val="6B675F"/>
                </a:solidFill>
                <a:latin typeface="Tajawal"/>
                <a:cs typeface="Tajawal"/>
                <a:ea typeface="Tajawal"/>
              </a:rPr>
              <a:t>60% أخضر · 30% أبيض · 5% رمادي · 5% أسود. ألوان الحالة (ساري / ينتهي قريبًا / منتهي) للواجهات فقط.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0" lang="ar-SA">
                <a:solidFill>
                  <a:srgbClr val="6B675F"/>
                </a:solidFill>
                <a:latin typeface="Tajawal"/>
                <a:cs typeface="Tajawal"/>
                <a:ea typeface="Tajawal"/>
              </a:rPr>
              <a:t>ضماناتي · عرض الهوية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000" b="1" lang="en-US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الخط: تجوال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16152"/>
            <a:ext cx="110642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0" lang="en-US">
                <a:solidFill>
                  <a:srgbClr val="6B675F"/>
                </a:solidFill>
                <a:latin typeface="Tajawal"/>
                <a:cs typeface="Tajawal"/>
                <a:ea typeface="Tajawal"/>
              </a:rPr>
              <a:t>Typography: Tajawal (SIL OFL 1.1)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1737360"/>
            <a:ext cx="5577840" cy="2194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0" b="1" lang="ar-SA">
                <a:solidFill>
                  <a:srgbClr val="2F7D6B"/>
                </a:solidFill>
                <a:latin typeface="Tajawal"/>
                <a:cs typeface="Tajawal"/>
                <a:ea typeface="Tajawal"/>
              </a:rPr>
              <a:t>ض 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303520" cy="4023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40000"/>
              </a:lnSpc>
              <a:spcAft>
                <a:spcPts val="600"/>
              </a:spcAft>
            </a:pPr>
            <a:r>
              <a:rPr sz="3000" b="1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كل ضماناتك في مكان واحد</a:t>
            </a:r>
          </a:p>
          <a:p>
            <a:pPr algn="r" rtl="0">
              <a:lnSpc>
                <a:spcPct val="140000"/>
              </a:lnSpc>
              <a:spcAft>
                <a:spcPts val="1800"/>
              </a:spcAft>
            </a:pPr>
            <a:r>
              <a:rPr sz="1600" b="0" lang="en-US">
                <a:solidFill>
                  <a:srgbClr val="6B675F"/>
                </a:solidFill>
                <a:latin typeface="Tajawal"/>
                <a:cs typeface="Tajawal"/>
                <a:ea typeface="Tajawal"/>
              </a:rPr>
              <a:t>All your warranties in one place</a:t>
            </a:r>
          </a:p>
          <a:p>
            <a:pPr algn="r" rtl="1">
              <a:lnSpc>
                <a:spcPct val="140000"/>
              </a:lnSpc>
            </a:pPr>
            <a:r>
              <a:rPr sz="1600" b="0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خط واحد للعربية واللاتينية، سبعة أوزان من ExtraLight إلى Black، وسلم طباعي من 12 إلى 56 بكسل.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0" lang="ar-SA">
                <a:solidFill>
                  <a:srgbClr val="6B675F"/>
                </a:solidFill>
                <a:latin typeface="Tajawal"/>
                <a:cs typeface="Tajawal"/>
                <a:ea typeface="Tajawal"/>
              </a:rPr>
              <a:t>ضماناتي · عرض الهوية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000" b="1" lang="en-US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اللغة البصرية: ثلاث عائلات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16152"/>
            <a:ext cx="110642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0" lang="en-US">
                <a:solidFill>
                  <a:srgbClr val="6B675F"/>
                </a:solidFill>
                <a:latin typeface="Tajawal"/>
                <a:cs typeface="Tajawal"/>
                <a:ea typeface="Tajawal"/>
              </a:rPr>
              <a:t>Visual language: three composition families</a:t>
            </a:r>
          </a:p>
        </p:txBody>
      </p:sp>
      <p:pic>
        <p:nvPicPr>
          <p:cNvPr id="4" name="Picture 3" descr="campaign_key_visual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965960"/>
            <a:ext cx="3611880" cy="20316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01000" y="4343400"/>
            <a:ext cx="36118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جواز المنتج</a:t>
            </a:r>
          </a:p>
        </p:txBody>
      </p:sp>
      <p:pic>
        <p:nvPicPr>
          <p:cNvPr id="6" name="Picture 5" descr="instagram_post_03_fea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783080"/>
            <a:ext cx="22860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51960" y="4343400"/>
            <a:ext cx="36118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قوس دورة الحياة</a:t>
            </a:r>
          </a:p>
        </p:txBody>
      </p:sp>
      <p:pic>
        <p:nvPicPr>
          <p:cNvPr id="8" name="Picture 7" descr="x_post_1600x9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965960"/>
            <a:ext cx="3611880" cy="20316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4343400"/>
            <a:ext cx="36118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النمط المختوم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0" lang="ar-SA">
                <a:solidFill>
                  <a:srgbClr val="6B675F"/>
                </a:solidFill>
                <a:latin typeface="Tajawal"/>
                <a:cs typeface="Tajawal"/>
                <a:ea typeface="Tajawal"/>
              </a:rPr>
              <a:t>ضماناتي · عرض الهوية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000" b="1" lang="en-US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داخل المنتج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16152"/>
            <a:ext cx="110642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0" lang="en-US">
                <a:solidFill>
                  <a:srgbClr val="6B675F"/>
                </a:solidFill>
                <a:latin typeface="Tajawal"/>
                <a:cs typeface="Tajawal"/>
                <a:ea typeface="Tajawal"/>
              </a:rPr>
              <a:t>Digital applications</a:t>
            </a:r>
          </a:p>
        </p:txBody>
      </p:sp>
      <p:pic>
        <p:nvPicPr>
          <p:cNvPr id="4" name="Picture 3" descr="app_01_lau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1600200"/>
            <a:ext cx="2154907" cy="4663440"/>
          </a:xfrm>
          <a:prstGeom prst="rect">
            <a:avLst/>
          </a:prstGeom>
        </p:spPr>
      </p:pic>
      <p:pic>
        <p:nvPicPr>
          <p:cNvPr id="5" name="Picture 4" descr="app_04_dashboard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600200"/>
            <a:ext cx="2154907" cy="4663440"/>
          </a:xfrm>
          <a:prstGeom prst="rect">
            <a:avLst/>
          </a:prstGeom>
        </p:spPr>
      </p:pic>
      <p:pic>
        <p:nvPicPr>
          <p:cNvPr id="6" name="Picture 5" descr="app_06_warranty_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1600200"/>
            <a:ext cx="2154907" cy="4663440"/>
          </a:xfrm>
          <a:prstGeom prst="rect">
            <a:avLst/>
          </a:prstGeom>
        </p:spPr>
      </p:pic>
      <p:pic>
        <p:nvPicPr>
          <p:cNvPr id="7" name="Picture 6" descr="app_05_dashboard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1600200"/>
            <a:ext cx="2154907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0" lang="ar-SA">
                <a:solidFill>
                  <a:srgbClr val="6B675F"/>
                </a:solidFill>
                <a:latin typeface="Tajawal"/>
                <a:cs typeface="Tajawal"/>
                <a:ea typeface="Tajawal"/>
              </a:rPr>
              <a:t>ضماناتي · عرض الهوية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000" b="1" lang="en-US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التسويق: «لكل منتج جواز ضمان»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16152"/>
            <a:ext cx="110642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0" lang="en-US">
                <a:solidFill>
                  <a:srgbClr val="6B675F"/>
                </a:solidFill>
                <a:latin typeface="Tajawal"/>
                <a:cs typeface="Tajawal"/>
                <a:ea typeface="Tajawal"/>
              </a:rPr>
              <a:t>Launch campaign key visual</a:t>
            </a:r>
          </a:p>
        </p:txBody>
      </p:sp>
      <p:pic>
        <p:nvPicPr>
          <p:cNvPr id="4" name="Picture 3" descr="campaign_key_visual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691640"/>
            <a:ext cx="7406640" cy="41662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0" lang="ar-SA">
                <a:solidFill>
                  <a:srgbClr val="6B675F"/>
                </a:solidFill>
                <a:latin typeface="Tajawal"/>
                <a:cs typeface="Tajawal"/>
                <a:ea typeface="Tajawal"/>
              </a:rPr>
              <a:t>ضماناتي · عرض الهوية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000" b="1" lang="en-US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الهوية المؤسسية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16152"/>
            <a:ext cx="110642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0" lang="en-US">
                <a:solidFill>
                  <a:srgbClr val="6B675F"/>
                </a:solidFill>
                <a:latin typeface="Tajawal"/>
                <a:cs typeface="Tajawal"/>
                <a:ea typeface="Tajawal"/>
              </a:rPr>
              <a:t>Corporate identity</a:t>
            </a:r>
          </a:p>
        </p:txBody>
      </p:sp>
      <p:pic>
        <p:nvPicPr>
          <p:cNvPr id="4" name="Picture 3" descr="letterhead_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1645920"/>
            <a:ext cx="3167912" cy="4480560"/>
          </a:xfrm>
          <a:prstGeom prst="rect">
            <a:avLst/>
          </a:prstGeom>
        </p:spPr>
      </p:pic>
      <p:pic>
        <p:nvPicPr>
          <p:cNvPr id="5" name="Picture 4" descr="business_card_fr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737360"/>
            <a:ext cx="3291840" cy="2130014"/>
          </a:xfrm>
          <a:prstGeom prst="rect">
            <a:avLst/>
          </a:prstGeom>
        </p:spPr>
      </p:pic>
      <p:pic>
        <p:nvPicPr>
          <p:cNvPr id="6" name="Picture 5" descr="business_card_b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4023360"/>
            <a:ext cx="3291840" cy="2130014"/>
          </a:xfrm>
          <a:prstGeom prst="rect">
            <a:avLst/>
          </a:prstGeom>
        </p:spPr>
      </p:pic>
      <p:pic>
        <p:nvPicPr>
          <p:cNvPr id="7" name="Picture 6" descr="staff_id_c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1783080"/>
            <a:ext cx="2526296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0" lang="ar-SA">
                <a:solidFill>
                  <a:srgbClr val="6B675F"/>
                </a:solidFill>
                <a:latin typeface="Tajawal"/>
                <a:cs typeface="Tajawal"/>
                <a:ea typeface="Tajawal"/>
              </a:rPr>
              <a:t>ضماناتي · عرض الهوية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000" b="1" lang="en-US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7D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 lang="ar-SA">
                <a:solidFill>
                  <a:srgbClr val="FFFFFF"/>
                </a:solidFill>
                <a:latin typeface="Tajawal"/>
                <a:cs typeface="Tajawal"/>
                <a:ea typeface="Tajawal"/>
              </a:rPr>
              <a:t>الحركة: كشف «الختم»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0" lang="en-US">
                <a:solidFill>
                  <a:srgbClr val="FFFFFF"/>
                </a:solidFill>
                <a:latin typeface="Tajawal"/>
                <a:cs typeface="Tajawal"/>
                <a:ea typeface="Tajawal"/>
              </a:rPr>
              <a:t>Logo reveal, rendered: 09_Motion_Assets/damanati_logo_reveal_seal_1920x1080.mp4</a:t>
            </a:r>
          </a:p>
        </p:txBody>
      </p:sp>
      <p:pic>
        <p:nvPicPr>
          <p:cNvPr id="4" name="Picture 3" descr="seal_t0.2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828800"/>
            <a:ext cx="3611880" cy="2031682"/>
          </a:xfrm>
          <a:prstGeom prst="rect">
            <a:avLst/>
          </a:prstGeom>
        </p:spPr>
      </p:pic>
      <p:pic>
        <p:nvPicPr>
          <p:cNvPr id="5" name="Picture 4" descr="seal_t0.7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828800"/>
            <a:ext cx="3611880" cy="2031682"/>
          </a:xfrm>
          <a:prstGeom prst="rect">
            <a:avLst/>
          </a:prstGeom>
        </p:spPr>
      </p:pic>
      <p:pic>
        <p:nvPicPr>
          <p:cNvPr id="6" name="Picture 5" descr="seal_t1.1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828800"/>
            <a:ext cx="3611880" cy="2031682"/>
          </a:xfrm>
          <a:prstGeom prst="rect">
            <a:avLst/>
          </a:prstGeom>
        </p:spPr>
      </p:pic>
      <p:pic>
        <p:nvPicPr>
          <p:cNvPr id="7" name="Picture 6" descr="seal_t1.6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4069080"/>
            <a:ext cx="3611880" cy="2031682"/>
          </a:xfrm>
          <a:prstGeom prst="rect">
            <a:avLst/>
          </a:prstGeom>
        </p:spPr>
      </p:pic>
      <p:pic>
        <p:nvPicPr>
          <p:cNvPr id="8" name="Picture 7" descr="seal_t2.2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1960" y="4069080"/>
            <a:ext cx="3611880" cy="2031682"/>
          </a:xfrm>
          <a:prstGeom prst="rect">
            <a:avLst/>
          </a:prstGeom>
        </p:spPr>
      </p:pic>
      <p:pic>
        <p:nvPicPr>
          <p:cNvPr id="9" name="Picture 8" descr="seal_t3.5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069080"/>
            <a:ext cx="3611880" cy="203168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ما نحتاج اعتماده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16152"/>
            <a:ext cx="110642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0" lang="en-US">
                <a:solidFill>
                  <a:srgbClr val="6B675F"/>
                </a:solidFill>
                <a:latin typeface="Tajawal"/>
                <a:cs typeface="Tajawal"/>
                <a:ea typeface="Tajawal"/>
              </a:rPr>
              <a:t>Decisions needed from the brand owner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47120" y="1828800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2F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1498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900" b="0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اعتماد الأخضر #2F7D6B قيمة وحيدة وتحديث كل الملفات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47120" y="2432304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2F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40864"/>
            <a:ext cx="101498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900" b="0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اعتماد المصطلح الإنجليزي warranty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247120" y="3035808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2F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44368"/>
            <a:ext cx="101498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900" b="0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اعتماد الصيغة العمودية والأحادية للشعار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247120" y="3639312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2F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47872"/>
            <a:ext cx="101498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900" b="0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اعتماد ألوان الحالة والثيم الداكن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247120" y="4242816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2F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51376"/>
            <a:ext cx="101498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900" b="0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اعتماد الغاية والوعد والنبرة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247120" y="4846320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2F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54880"/>
            <a:ext cx="101498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900" b="0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اختبار طباعة CMYK ومطابقة Pantone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247120" y="5449823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2F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58383"/>
            <a:ext cx="101498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900" b="0" lang="ar-SA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تحقق ميداني من شخصيات الجمهور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0" lang="ar-SA">
                <a:solidFill>
                  <a:srgbClr val="6B675F"/>
                </a:solidFill>
                <a:latin typeface="Tajawal"/>
                <a:cs typeface="Tajawal"/>
                <a:ea typeface="Tajawal"/>
              </a:rPr>
              <a:t>ضماناتي · عرض الهوية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000" b="1" lang="en-US">
                <a:solidFill>
                  <a:srgbClr val="231F20"/>
                </a:solidFill>
                <a:latin typeface="Tajawal"/>
                <a:cs typeface="Tajawal"/>
                <a:ea typeface="Tajaw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7D6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amanati_pattern_fade-white-on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40480"/>
            <a:ext cx="12191695" cy="2666933"/>
          </a:xfrm>
          <a:prstGeom prst="rect">
            <a:avLst/>
          </a:prstGeom>
        </p:spPr>
      </p:pic>
      <p:pic>
        <p:nvPicPr>
          <p:cNvPr id="3" name="Picture 2" descr="damanati_vertical_reversed-on-green_512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097280"/>
            <a:ext cx="1885236" cy="2377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0"/>
            <a:ext cx="1106424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200" b="0" lang="ar-SA">
                <a:solidFill>
                  <a:srgbClr val="FFFFFF"/>
                </a:solidFill>
                <a:latin typeface="Tajawal"/>
                <a:cs typeface="Tajawal"/>
                <a:ea typeface="Tajawal"/>
              </a:rPr>
              <a:t>نحفظ ضمانك، ونذكّرك بحقك.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